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</p:sldIdLst>
  <p:sldSz cx="9144000" cy="6858000" type="screen4x3"/>
  <p:notesSz cx="7102475" cy="10233025"/>
  <p:embeddedFontLst>
    <p:embeddedFont>
      <p:font typeface="Century Gothic" panose="020B0502020202020204" pitchFamily="34" charset="0"/>
      <p:regular r:id="rId19"/>
      <p:bold r:id="rId20"/>
      <p:italic r:id="rId21"/>
      <p:boldItalic r:id="rId22"/>
    </p:embeddedFont>
    <p:embeddedFont>
      <p:font typeface="Georgia" panose="02040502050405020303" pitchFamily="18" charset="0"/>
      <p:regular r:id="rId23"/>
      <p:bold r:id="rId24"/>
      <p:italic r:id="rId25"/>
      <p:boldItalic r:id="rId26"/>
    </p:embeddedFont>
    <p:embeddedFont>
      <p:font typeface="Impact" panose="020B0806030902050204" pitchFamily="34" charset="0"/>
      <p:regular r:id="rId27"/>
    </p:embeddedFont>
    <p:embeddedFont>
      <p:font typeface="Tahoma" panose="020B0604030504040204" pitchFamily="3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7296">
          <p15:clr>
            <a:srgbClr val="A4A3A4"/>
          </p15:clr>
        </p15:guide>
        <p15:guide id="4" orient="horz" pos="4128">
          <p15:clr>
            <a:srgbClr val="A4A3A4"/>
          </p15:clr>
        </p15:guide>
        <p15:guide id="5" pos="2880">
          <p15:clr>
            <a:srgbClr val="A4A3A4"/>
          </p15:clr>
        </p15:guide>
        <p15:guide id="6" pos="5472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gxvLLAcy1ylNV2W3IV2wT99D1n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9CE96C-D3BE-4F5A-92E7-CED2EAD0818A}">
  <a:tblStyle styleId="{D49CE96C-D3BE-4F5A-92E7-CED2EAD0818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F6E7"/>
          </a:solidFill>
        </a:fill>
      </a:tcStyle>
    </a:wholeTbl>
    <a:band1H>
      <a:tcTxStyle/>
      <a:tcStyle>
        <a:tcBdr/>
        <a:fill>
          <a:solidFill>
            <a:srgbClr val="DDEC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DEC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80" y="44"/>
      </p:cViewPr>
      <p:guideLst>
        <p:guide orient="horz" pos="2160"/>
        <p:guide pos="3840"/>
        <p:guide pos="7296"/>
        <p:guide orient="horz" pos="4128"/>
        <p:guide pos="2880"/>
        <p:guide pos="54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1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8386ebe13f_1_0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28386ebe13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7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/>
          <p:nvPr/>
        </p:nvSpPr>
        <p:spPr>
          <a:xfrm rot="10800000" flipH="1">
            <a:off x="5410184" y="3810004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9"/>
          <p:cNvSpPr/>
          <p:nvPr/>
        </p:nvSpPr>
        <p:spPr>
          <a:xfrm rot="10800000" flipH="1">
            <a:off x="5410202" y="3897010"/>
            <a:ext cx="3733801" cy="192024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9"/>
          <p:cNvSpPr/>
          <p:nvPr/>
        </p:nvSpPr>
        <p:spPr>
          <a:xfrm rot="10800000" flipH="1">
            <a:off x="5410202" y="4115167"/>
            <a:ext cx="3733801" cy="9144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9"/>
          <p:cNvSpPr/>
          <p:nvPr/>
        </p:nvSpPr>
        <p:spPr>
          <a:xfrm rot="10800000" flipH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9"/>
          <p:cNvSpPr/>
          <p:nvPr/>
        </p:nvSpPr>
        <p:spPr>
          <a:xfrm rot="10800000" flipH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9"/>
          <p:cNvSpPr/>
          <p:nvPr/>
        </p:nvSpPr>
        <p:spPr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9"/>
          <p:cNvSpPr/>
          <p:nvPr/>
        </p:nvSpPr>
        <p:spPr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9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9"/>
          <p:cNvSpPr/>
          <p:nvPr/>
        </p:nvSpPr>
        <p:spPr>
          <a:xfrm>
            <a:off x="2" y="3675531"/>
            <a:ext cx="9144001" cy="1406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9"/>
          <p:cNvSpPr/>
          <p:nvPr/>
        </p:nvSpPr>
        <p:spPr>
          <a:xfrm rot="10800000" flipH="1">
            <a:off x="6414051" y="3643090"/>
            <a:ext cx="2729950" cy="248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9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9"/>
          <p:cNvSpPr txBox="1">
            <a:spLocks noGrp="1"/>
          </p:cNvSpPr>
          <p:nvPr>
            <p:ph type="subTitle" idx="1"/>
          </p:nvPr>
        </p:nvSpPr>
        <p:spPr>
          <a:xfrm>
            <a:off x="449495" y="3889662"/>
            <a:ext cx="49530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ctrTitle"/>
          </p:nvPr>
        </p:nvSpPr>
        <p:spPr>
          <a:xfrm>
            <a:off x="426378" y="2401891"/>
            <a:ext cx="8458200" cy="1081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Impact"/>
              <a:buNone/>
              <a:defRPr sz="4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370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381000" algn="just">
              <a:spcBef>
                <a:spcPts val="300"/>
              </a:spcBef>
              <a:spcAft>
                <a:spcPts val="0"/>
              </a:spcAft>
              <a:buSzPts val="2400"/>
              <a:buChar char="▫"/>
              <a:def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lvl="2" indent="-381000" algn="l">
              <a:spcBef>
                <a:spcPts val="300"/>
              </a:spcBef>
              <a:spcAft>
                <a:spcPts val="0"/>
              </a:spcAft>
              <a:buSzPts val="24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68300" algn="l">
              <a:spcBef>
                <a:spcPts val="300"/>
              </a:spcBef>
              <a:spcAft>
                <a:spcPts val="0"/>
              </a:spcAft>
              <a:buSzPts val="22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  <a:defRPr b="1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/>
          <p:nvPr/>
        </p:nvSpPr>
        <p:spPr>
          <a:xfrm>
            <a:off x="8810625" y="6591300"/>
            <a:ext cx="35137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8A5E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1200" b="1" i="0" u="none" strike="noStrike" cap="none">
              <a:solidFill>
                <a:srgbClr val="08A5E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2100"/>
              <a:buNone/>
              <a:defRPr sz="2100" b="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title"/>
          </p:nvPr>
        </p:nvSpPr>
        <p:spPr>
          <a:xfrm>
            <a:off x="722313" y="1981204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Calibri"/>
              <a:buNone/>
              <a:defRPr sz="4300" b="1" cap="none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4648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925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457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925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>
            <a:spLocks noGrp="1"/>
          </p:cNvSpPr>
          <p:nvPr>
            <p:ph type="dt" idx="10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body" idx="1"/>
          </p:nvPr>
        </p:nvSpPr>
        <p:spPr>
          <a:xfrm>
            <a:off x="4718306" y="2708519"/>
            <a:ext cx="4041775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body" idx="2"/>
          </p:nvPr>
        </p:nvSpPr>
        <p:spPr>
          <a:xfrm>
            <a:off x="4721227" y="2244970"/>
            <a:ext cx="4041775" cy="457200"/>
          </a:xfrm>
          <a:prstGeom prst="rect">
            <a:avLst/>
          </a:prstGeom>
          <a:solidFill>
            <a:srgbClr val="9ED47A">
              <a:alpha val="24705"/>
            </a:srgbClr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900"/>
              <a:buNone/>
              <a:defRPr sz="1900" b="1">
                <a:solidFill>
                  <a:srgbClr val="414141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body" idx="3"/>
          </p:nvPr>
        </p:nvSpPr>
        <p:spPr>
          <a:xfrm>
            <a:off x="381000" y="2708519"/>
            <a:ext cx="4041648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body" idx="4"/>
          </p:nvPr>
        </p:nvSpPr>
        <p:spPr>
          <a:xfrm>
            <a:off x="381000" y="2244970"/>
            <a:ext cx="4041648" cy="457200"/>
          </a:xfrm>
          <a:prstGeom prst="rect">
            <a:avLst/>
          </a:prstGeom>
          <a:solidFill>
            <a:srgbClr val="9ED47A">
              <a:alpha val="24705"/>
            </a:srgbClr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900"/>
              <a:buNone/>
              <a:defRPr sz="1900" b="1">
                <a:solidFill>
                  <a:srgbClr val="414141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 b="0" i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6583680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body" idx="1"/>
          </p:nvPr>
        </p:nvSpPr>
        <p:spPr>
          <a:xfrm>
            <a:off x="152400" y="776290"/>
            <a:ext cx="5102352" cy="580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300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spcBef>
                <a:spcPts val="300"/>
              </a:spcBef>
              <a:spcAft>
                <a:spcPts val="0"/>
              </a:spcAft>
              <a:buSzPts val="2800"/>
              <a:buChar char="▫"/>
              <a:defRPr sz="2800"/>
            </a:lvl2pPr>
            <a:lvl3pPr marL="1371600" lvl="2" indent="-381000" algn="l">
              <a:spcBef>
                <a:spcPts val="300"/>
              </a:spcBef>
              <a:spcAft>
                <a:spcPts val="0"/>
              </a:spcAft>
              <a:buSzPts val="2400"/>
              <a:buChar char="●"/>
              <a:defRPr sz="2400"/>
            </a:lvl3pPr>
            <a:lvl4pPr marL="1828800" lvl="3" indent="-3556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body" idx="2"/>
          </p:nvPr>
        </p:nvSpPr>
        <p:spPr>
          <a:xfrm>
            <a:off x="5353496" y="2010730"/>
            <a:ext cx="3383280" cy="458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  <a:defRPr sz="1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>
            <a:spLocks noGrp="1"/>
          </p:cNvSpPr>
          <p:nvPr>
            <p:ph type="dt" idx="10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ftr" idx="11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sldNum" idx="12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27"/>
          <p:cNvSpPr>
            <a:spLocks noGrp="1"/>
          </p:cNvSpPr>
          <p:nvPr>
            <p:ph type="pic" idx="2"/>
          </p:nvPr>
        </p:nvSpPr>
        <p:spPr>
          <a:xfrm>
            <a:off x="403671" y="1143000"/>
            <a:ext cx="4572000" cy="4572000"/>
          </a:xfrm>
          <a:prstGeom prst="rect">
            <a:avLst/>
          </a:prstGeom>
          <a:solidFill>
            <a:srgbClr val="EAEAEA"/>
          </a:solidFill>
          <a:ln w="508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31750" dir="4800000" algn="tl" rotWithShape="0">
              <a:srgbClr val="000000">
                <a:alpha val="24705"/>
              </a:srgbClr>
            </a:outerShdw>
          </a:effectLst>
        </p:spPr>
      </p:sp>
      <p:sp>
        <p:nvSpPr>
          <p:cNvPr id="89" name="Google Shape;89;p27"/>
          <p:cNvSpPr txBox="1">
            <a:spLocks noGrp="1"/>
          </p:cNvSpPr>
          <p:nvPr>
            <p:ph type="body" idx="1"/>
          </p:nvPr>
        </p:nvSpPr>
        <p:spPr>
          <a:xfrm>
            <a:off x="6088443" y="3274312"/>
            <a:ext cx="2590800" cy="251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None/>
              <a:defRPr sz="13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000"/>
              <a:buFont typeface="Calibri"/>
              <a:buNone/>
              <a:defRPr sz="10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title"/>
          </p:nvPr>
        </p:nvSpPr>
        <p:spPr>
          <a:xfrm rot="-5400000">
            <a:off x="3393019" y="3156579"/>
            <a:ext cx="4681637" cy="58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457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8"/>
          <p:cNvSpPr txBox="1">
            <a:spLocks noGrp="1"/>
          </p:cNvSpPr>
          <p:nvPr>
            <p:ph type="dt" idx="10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ftr" idx="11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sldNum" idx="12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body" idx="1"/>
          </p:nvPr>
        </p:nvSpPr>
        <p:spPr>
          <a:xfrm rot="5400000">
            <a:off x="2409444" y="297180"/>
            <a:ext cx="432511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9"/>
          <p:cNvSpPr txBox="1">
            <a:spLocks noGrp="1"/>
          </p:cNvSpPr>
          <p:nvPr>
            <p:ph type="dt" idx="10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ftr" idx="11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sldNum" idx="12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body" idx="1"/>
          </p:nvPr>
        </p:nvSpPr>
        <p:spPr>
          <a:xfrm rot="5400000">
            <a:off x="857250" y="742950"/>
            <a:ext cx="5448300" cy="6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02" name="Google Shape;102;p29"/>
          <p:cNvSpPr txBox="1">
            <a:spLocks noGrp="1"/>
          </p:cNvSpPr>
          <p:nvPr>
            <p:ph type="title"/>
          </p:nvPr>
        </p:nvSpPr>
        <p:spPr>
          <a:xfrm rot="5400000">
            <a:off x="5010150" y="2914650"/>
            <a:ext cx="54483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>
            <a:off x="1" y="366822"/>
            <a:ext cx="9144000" cy="8440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8"/>
          <p:cNvSpPr/>
          <p:nvPr/>
        </p:nvSpPr>
        <p:spPr>
          <a:xfrm>
            <a:off x="2" y="308280"/>
            <a:ext cx="9144001" cy="914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8"/>
          <p:cNvSpPr/>
          <p:nvPr/>
        </p:nvSpPr>
        <p:spPr>
          <a:xfrm rot="10800000" flipH="1">
            <a:off x="5410184" y="360250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8"/>
          <p:cNvSpPr/>
          <p:nvPr/>
        </p:nvSpPr>
        <p:spPr>
          <a:xfrm rot="10800000" flipH="1">
            <a:off x="5410202" y="440116"/>
            <a:ext cx="3733801" cy="18003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8"/>
          <p:cNvSpPr/>
          <p:nvPr/>
        </p:nvSpPr>
        <p:spPr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8"/>
          <p:cNvSpPr/>
          <p:nvPr/>
        </p:nvSpPr>
        <p:spPr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8"/>
          <p:cNvSpPr/>
          <p:nvPr/>
        </p:nvSpPr>
        <p:spPr>
          <a:xfrm>
            <a:off x="9084967" y="-2001"/>
            <a:ext cx="57626" cy="621792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8"/>
          <p:cNvSpPr/>
          <p:nvPr/>
        </p:nvSpPr>
        <p:spPr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8"/>
          <p:cNvSpPr/>
          <p:nvPr/>
        </p:nvSpPr>
        <p:spPr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8"/>
          <p:cNvSpPr/>
          <p:nvPr/>
        </p:nvSpPr>
        <p:spPr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8"/>
          <p:cNvSpPr/>
          <p:nvPr/>
        </p:nvSpPr>
        <p:spPr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8"/>
          <p:cNvSpPr/>
          <p:nvPr/>
        </p:nvSpPr>
        <p:spPr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8"/>
          <p:cNvSpPr txBox="1">
            <a:spLocks noGrp="1"/>
          </p:cNvSpPr>
          <p:nvPr>
            <p:ph type="dt" idx="10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ftr" idx="11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sldNum" idx="12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sz="2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37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sz="26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83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●"/>
              <a:defRPr sz="15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inh@hcmut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odel_of_computation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>
            <a:spLocks noGrp="1"/>
          </p:cNvSpPr>
          <p:nvPr>
            <p:ph type="ctrTitle"/>
          </p:nvPr>
        </p:nvSpPr>
        <p:spPr>
          <a:xfrm>
            <a:off x="233797" y="971550"/>
            <a:ext cx="8650783" cy="2511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rPr lang="en-US" dirty="0">
                <a:solidFill>
                  <a:srgbClr val="FFFF00"/>
                </a:solidFill>
              </a:rPr>
              <a:t>Micro Processing System</a:t>
            </a:r>
            <a:endParaRPr dirty="0">
              <a:solidFill>
                <a:srgbClr val="FFFF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endParaRPr dirty="0">
              <a:solidFill>
                <a:srgbClr val="FFFF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rPr lang="en-US" sz="3600" dirty="0">
                <a:solidFill>
                  <a:srgbClr val="FFFF00"/>
                </a:solidFill>
              </a:rPr>
              <a:t>Micro-Controller and Micro-Processor Unit</a:t>
            </a:r>
            <a:endParaRPr sz="3600" dirty="0">
              <a:solidFill>
                <a:srgbClr val="FFFF00"/>
              </a:solidFill>
            </a:endParaRPr>
          </a:p>
        </p:txBody>
      </p:sp>
      <p:sp>
        <p:nvSpPr>
          <p:cNvPr id="109" name="Google Shape;109;p1"/>
          <p:cNvSpPr txBox="1">
            <a:spLocks noGrp="1"/>
          </p:cNvSpPr>
          <p:nvPr>
            <p:ph type="subTitle" idx="1"/>
          </p:nvPr>
        </p:nvSpPr>
        <p:spPr>
          <a:xfrm>
            <a:off x="161764" y="6183315"/>
            <a:ext cx="4253134" cy="784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4006" lvl="0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binh@hcmut.edu.vn</a:t>
            </a:r>
            <a:endParaRPr dirty="0"/>
          </a:p>
          <a:p>
            <a:pPr marL="64006" lvl="0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endParaRPr dirty="0"/>
          </a:p>
          <a:p>
            <a:pPr marL="64006" lvl="0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endParaRPr dirty="0"/>
          </a:p>
        </p:txBody>
      </p:sp>
      <p:sp>
        <p:nvSpPr>
          <p:cNvPr id="110" name="Google Shape;110;p1"/>
          <p:cNvSpPr txBox="1"/>
          <p:nvPr/>
        </p:nvSpPr>
        <p:spPr>
          <a:xfrm>
            <a:off x="188077" y="5504481"/>
            <a:ext cx="3444900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C000"/>
                </a:solidFill>
              </a:rPr>
              <a:t>VÕ TUẤN BÌNH</a:t>
            </a:r>
            <a:endParaRPr sz="3000" b="1" i="0" u="none" strike="noStrike" cap="none" dirty="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1" descr="Everything You Need to Know About Microcontrollers | RS Component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5961" y="4278876"/>
            <a:ext cx="4568039" cy="2579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 descr="A Guide for selecting the right microcontroller for your IoT project – IIoT  World"/>
          <p:cNvPicPr preferRelativeResize="0"/>
          <p:nvPr/>
        </p:nvPicPr>
        <p:blipFill rotWithShape="1">
          <a:blip r:embed="rId5">
            <a:alphaModFix/>
          </a:blip>
          <a:srcRect t="19720" b="12277"/>
          <a:stretch/>
        </p:blipFill>
        <p:spPr>
          <a:xfrm>
            <a:off x="-120" y="3974076"/>
            <a:ext cx="4576081" cy="1530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8386ebe13f_1_0"/>
          <p:cNvSpPr txBox="1">
            <a:spLocks noGrp="1"/>
          </p:cNvSpPr>
          <p:nvPr>
            <p:ph type="body" idx="1"/>
          </p:nvPr>
        </p:nvSpPr>
        <p:spPr>
          <a:xfrm>
            <a:off x="38529" y="1283517"/>
            <a:ext cx="9010200" cy="54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51" lvl="0" indent="-256025" algn="l" rtl="0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 dirty="0"/>
              <a:t>15 weeks for Lectures </a:t>
            </a:r>
            <a:endParaRPr dirty="0"/>
          </a:p>
          <a:p>
            <a:pPr marL="365751" lvl="0" indent="-256025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 dirty="0"/>
              <a:t>MCQs for Mid-term (40%)</a:t>
            </a:r>
            <a:endParaRPr dirty="0"/>
          </a:p>
          <a:p>
            <a:pPr marL="365751" lvl="0" indent="-256025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 dirty="0"/>
              <a:t>MCQs for Final-term (60%)</a:t>
            </a:r>
            <a:endParaRPr dirty="0"/>
          </a:p>
        </p:txBody>
      </p:sp>
      <p:sp>
        <p:nvSpPr>
          <p:cNvPr id="126" name="Google Shape;126;g28386ebe13f_1_0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Zalo Group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"/>
          <p:cNvSpPr txBox="1">
            <a:spLocks noGrp="1"/>
          </p:cNvSpPr>
          <p:nvPr>
            <p:ph type="body" idx="1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51" lvl="0" indent="-256026" algn="l" rtl="0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 dirty="0"/>
              <a:t>Understand microcontroller basics including all common interfaces:</a:t>
            </a:r>
            <a:endParaRPr dirty="0"/>
          </a:p>
          <a:p>
            <a:pPr marL="658352" lvl="1" indent="-246882" algn="just" rtl="0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 dirty="0"/>
              <a:t>General Input/Output GPIO (LEDs, Buttons)</a:t>
            </a:r>
            <a:endParaRPr dirty="0"/>
          </a:p>
          <a:p>
            <a:pPr marL="658352" lvl="1" indent="-246882" algn="just" rtl="0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 dirty="0"/>
              <a:t>Interrupts: Timer Interrupt</a:t>
            </a:r>
            <a:endParaRPr dirty="0"/>
          </a:p>
          <a:p>
            <a:pPr marL="658352" lvl="1" indent="-246882" algn="just" rtl="0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 dirty="0"/>
              <a:t>Serial communications: UART, I2C, SPI</a:t>
            </a:r>
            <a:endParaRPr dirty="0"/>
          </a:p>
          <a:p>
            <a:pPr marL="365751" lvl="0" indent="-909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endParaRPr dirty="0"/>
          </a:p>
          <a:p>
            <a:pPr marL="109725" lvl="0" indent="0" algn="l" rtl="0">
              <a:spcBef>
                <a:spcPts val="300"/>
              </a:spcBef>
              <a:spcAft>
                <a:spcPts val="0"/>
              </a:spcAft>
              <a:buSzPts val="2600"/>
              <a:buNone/>
            </a:pPr>
            <a:endParaRPr dirty="0"/>
          </a:p>
        </p:txBody>
      </p:sp>
      <p:sp>
        <p:nvSpPr>
          <p:cNvPr id="142" name="Google Shape;142;p3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15 Weeks for Lectures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 txBox="1">
            <a:spLocks noGrp="1"/>
          </p:cNvSpPr>
          <p:nvPr>
            <p:ph type="body" idx="1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51" lvl="0" indent="-256026" algn="l" rtl="0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 dirty="0"/>
              <a:t>Software requirements:</a:t>
            </a:r>
            <a:endParaRPr dirty="0"/>
          </a:p>
          <a:p>
            <a:pPr marL="658352" lvl="1" indent="-246882" algn="just" rtl="0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 dirty="0" err="1"/>
              <a:t>STMCubeIDE</a:t>
            </a:r>
            <a:endParaRPr dirty="0"/>
          </a:p>
          <a:p>
            <a:pPr marL="658352" lvl="1" indent="-246882" algn="just" rtl="0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 dirty="0"/>
              <a:t>Proteus simulations</a:t>
            </a:r>
            <a:endParaRPr dirty="0"/>
          </a:p>
          <a:p>
            <a:pPr marL="658352" lvl="1" indent="-246882" algn="just" rtl="0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 dirty="0" err="1"/>
              <a:t>Github</a:t>
            </a:r>
            <a:endParaRPr dirty="0"/>
          </a:p>
          <a:p>
            <a:pPr marL="365751" lvl="0" indent="-909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endParaRPr dirty="0"/>
          </a:p>
          <a:p>
            <a:pPr marL="365751" lvl="0" indent="-909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endParaRPr dirty="0"/>
          </a:p>
        </p:txBody>
      </p:sp>
      <p:sp>
        <p:nvSpPr>
          <p:cNvPr id="148" name="Google Shape;148;p4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 dirty="0"/>
              <a:t>Weeks for Labs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body" idx="1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51" lvl="0" indent="-256026" algn="l" rtl="0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Networking &amp; communications</a:t>
            </a:r>
            <a:endParaRPr/>
          </a:p>
          <a:p>
            <a:pPr marL="630920" lvl="2" indent="-256026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Noto Sans Symbols"/>
              <a:buChar char="▪"/>
            </a:pPr>
            <a:r>
              <a:rPr lang="en-US" sz="2600"/>
              <a:t>phones, modems, switches, routers, signal processors</a:t>
            </a:r>
            <a:endParaRPr/>
          </a:p>
          <a:p>
            <a:pPr marL="365751" lvl="0" indent="-90926" algn="l" rtl="0">
              <a:spcBef>
                <a:spcPts val="300"/>
              </a:spcBef>
              <a:spcAft>
                <a:spcPts val="0"/>
              </a:spcAft>
              <a:buSzPts val="2600"/>
              <a:buNone/>
            </a:pPr>
            <a:endParaRPr/>
          </a:p>
          <a:p>
            <a:pPr marL="365751" lvl="0" indent="-256026" algn="l" rtl="0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Embedded products &amp; systems</a:t>
            </a:r>
            <a:endParaRPr/>
          </a:p>
          <a:p>
            <a:pPr marL="630920" lvl="2" indent="-256026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Noto Sans Symbols"/>
              <a:buChar char="▪"/>
            </a:pPr>
            <a:r>
              <a:rPr lang="en-US" sz="2600"/>
              <a:t>consumer electronics, appliances, entertainment devices, medical devices, security, transportation</a:t>
            </a:r>
            <a:endParaRPr/>
          </a:p>
          <a:p>
            <a:pPr marL="365751" lvl="0" indent="-90926" algn="l" rtl="0">
              <a:spcBef>
                <a:spcPts val="300"/>
              </a:spcBef>
              <a:spcAft>
                <a:spcPts val="0"/>
              </a:spcAft>
              <a:buSzPts val="2600"/>
              <a:buNone/>
            </a:pPr>
            <a:endParaRPr/>
          </a:p>
          <a:p>
            <a:pPr marL="365751" lvl="0" indent="-256026" algn="l" rtl="0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Scientific instruments &amp; equipment</a:t>
            </a:r>
            <a:endParaRPr/>
          </a:p>
          <a:p>
            <a:pPr marL="630920" lvl="2" indent="-256026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Noto Sans Symbols"/>
              <a:buChar char="▪"/>
            </a:pPr>
            <a:r>
              <a:rPr lang="en-US" sz="2600"/>
              <a:t>simulation, testing, sensing, logging, reporting, analyzing</a:t>
            </a:r>
            <a:endParaRPr/>
          </a:p>
          <a:p>
            <a:pPr marL="365751" lvl="0" indent="-90926" algn="l" rtl="0">
              <a:spcBef>
                <a:spcPts val="300"/>
              </a:spcBef>
              <a:spcAft>
                <a:spcPts val="0"/>
              </a:spcAft>
              <a:buSzPts val="2600"/>
              <a:buNone/>
            </a:pPr>
            <a:endParaRPr/>
          </a:p>
          <a:p>
            <a:pPr marL="365751" lvl="0" indent="-256026" algn="l" rtl="0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Many more.</a:t>
            </a:r>
            <a:endParaRPr/>
          </a:p>
          <a:p>
            <a:pPr marL="365751" lvl="0" indent="-909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endParaRPr/>
          </a:p>
        </p:txBody>
      </p:sp>
      <p:sp>
        <p:nvSpPr>
          <p:cNvPr id="160" name="Google Shape;160;p6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entury Gothic"/>
              <a:buNone/>
            </a:pPr>
            <a:r>
              <a:rPr lang="en-US" sz="2800"/>
              <a:t>Microcontroller and Microprocessor Applications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Microprocessor vs Microcontroller</a:t>
            </a:r>
            <a:endParaRPr/>
          </a:p>
        </p:txBody>
      </p:sp>
      <p:graphicFrame>
        <p:nvGraphicFramePr>
          <p:cNvPr id="166" name="Google Shape;166;p7"/>
          <p:cNvGraphicFramePr/>
          <p:nvPr/>
        </p:nvGraphicFramePr>
        <p:xfrm>
          <a:off x="1535575" y="1697942"/>
          <a:ext cx="6096000" cy="4119940"/>
        </p:xfrm>
        <a:graphic>
          <a:graphicData uri="http://schemas.openxmlformats.org/drawingml/2006/table">
            <a:tbl>
              <a:tblPr firstRow="1" bandRow="1">
                <a:noFill/>
                <a:tableStyleId>{D49CE96C-D3BE-4F5A-92E7-CED2EAD0818A}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MPU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MCU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Stand-alone CPU, RAM, ROM and IO (</a:t>
                      </a:r>
                      <a:r>
                        <a:rPr lang="en-US" sz="1800" b="1" u="none" strike="noStrike" cap="none"/>
                        <a:t>and Timer</a:t>
                      </a:r>
                      <a:r>
                        <a:rPr lang="en-US" sz="1800" u="none" strike="noStrike" cap="none"/>
                        <a:t>) are separated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CPU, RAM, ROM and IO (</a:t>
                      </a:r>
                      <a:r>
                        <a:rPr lang="en-US" sz="1800" b="1" u="none" strike="noStrike" cap="none"/>
                        <a:t>and Timer</a:t>
                      </a:r>
                      <a:r>
                        <a:rPr lang="en-US" sz="1800" u="none" strike="noStrike" cap="none"/>
                        <a:t>) are all on a single chip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ROM, RAM and IO can be customized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ROM, RAM and IO are fixed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Expensive, versatility and general purpose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Low cost, power and single-purpose (control-oriented)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High resource of power, processing and memory (for AI inferences)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Low resource of power, processing and memory (for device controller)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Normal Operating System (32 or 64 bits)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Real Time Operating System (8 or 16 bit)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>
            <a:spLocks noGrp="1"/>
          </p:cNvSpPr>
          <p:nvPr>
            <p:ph type="body" idx="1"/>
          </p:nvPr>
        </p:nvSpPr>
        <p:spPr>
          <a:xfrm>
            <a:off x="133779" y="1652186"/>
            <a:ext cx="5139261" cy="198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65751" lvl="0" indent="-256025" algn="l" rtl="0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 b="1"/>
              <a:t>Micro-Controller Unit </a:t>
            </a:r>
            <a:r>
              <a:rPr lang="en-US"/>
              <a:t>(MCU) contains RAM, ROM and IO</a:t>
            </a:r>
            <a:endParaRPr/>
          </a:p>
          <a:p>
            <a:pPr marL="365751" lvl="0" indent="-256025" algn="l" rtl="0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 b="1"/>
              <a:t>Micro-Processor Unit </a:t>
            </a:r>
            <a:r>
              <a:rPr lang="en-US"/>
              <a:t>(MPU) only contains the CPU</a:t>
            </a:r>
            <a:endParaRPr/>
          </a:p>
          <a:p>
            <a:pPr marL="365751" lvl="0" indent="-256025" algn="l" rtl="0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 b="1"/>
              <a:t>System on Chip</a:t>
            </a:r>
            <a:r>
              <a:rPr lang="en-US"/>
              <a:t> (SoC) refers to MCUs with a greater number of onboard peripherals and functionality</a:t>
            </a:r>
            <a:endParaRPr/>
          </a:p>
        </p:txBody>
      </p:sp>
      <p:sp>
        <p:nvSpPr>
          <p:cNvPr id="172" name="Google Shape;172;p8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Micro-Controller Platform</a:t>
            </a:r>
            <a:endParaRPr/>
          </a:p>
        </p:txBody>
      </p:sp>
      <p:pic>
        <p:nvPicPr>
          <p:cNvPr id="173" name="Google Shape;173;p8"/>
          <p:cNvPicPr preferRelativeResize="0"/>
          <p:nvPr/>
        </p:nvPicPr>
        <p:blipFill rotWithShape="1">
          <a:blip r:embed="rId3">
            <a:alphaModFix/>
          </a:blip>
          <a:srcRect l="55167" t="25110" r="15166" b="47334"/>
          <a:stretch/>
        </p:blipFill>
        <p:spPr>
          <a:xfrm>
            <a:off x="5273040" y="1652186"/>
            <a:ext cx="3807489" cy="1989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8" descr="Related 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2347" y="3952240"/>
            <a:ext cx="2428240" cy="2428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8" descr="Image result for Microchip IoT platform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36087" y="3952240"/>
            <a:ext cx="1616410" cy="2428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8"/>
          <p:cNvSpPr txBox="1"/>
          <p:nvPr/>
        </p:nvSpPr>
        <p:spPr>
          <a:xfrm>
            <a:off x="6798392" y="6444239"/>
            <a:ext cx="18918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http://www.microchip.com</a:t>
            </a:r>
            <a:endParaRPr/>
          </a:p>
        </p:txBody>
      </p:sp>
      <p:sp>
        <p:nvSpPr>
          <p:cNvPr id="177" name="Google Shape;177;p8"/>
          <p:cNvSpPr txBox="1"/>
          <p:nvPr/>
        </p:nvSpPr>
        <p:spPr>
          <a:xfrm>
            <a:off x="3892632" y="6434549"/>
            <a:ext cx="135716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http://www.ti.com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8" descr="NUCLEO-L412RB-P STMicroelectronics | Mous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9887" y="3789680"/>
            <a:ext cx="2654559" cy="2654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Program on MPU vs MCU</a:t>
            </a:r>
            <a:endParaRPr/>
          </a:p>
        </p:txBody>
      </p:sp>
      <p:pic>
        <p:nvPicPr>
          <p:cNvPr id="184" name="Google Shape;184;p9" descr="Dijkstra's Algorithm Source Code | Download Scientific Diagram"/>
          <p:cNvPicPr preferRelativeResize="0"/>
          <p:nvPr/>
        </p:nvPicPr>
        <p:blipFill rotWithShape="1">
          <a:blip r:embed="rId3">
            <a:alphaModFix/>
          </a:blip>
          <a:srcRect l="1736"/>
          <a:stretch/>
        </p:blipFill>
        <p:spPr>
          <a:xfrm>
            <a:off x="300942" y="1224794"/>
            <a:ext cx="3893182" cy="295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9" descr="recursion - How to recursively program a multiplication algorithms - Stack  Overflow"/>
          <p:cNvPicPr preferRelativeResize="0"/>
          <p:nvPr/>
        </p:nvPicPr>
        <p:blipFill rotWithShape="1">
          <a:blip r:embed="rId4">
            <a:alphaModFix/>
          </a:blip>
          <a:srcRect l="6156" t="18590" r="14601" b="13181"/>
          <a:stretch/>
        </p:blipFill>
        <p:spPr>
          <a:xfrm>
            <a:off x="300942" y="4447760"/>
            <a:ext cx="4413562" cy="2272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008" y="1490386"/>
            <a:ext cx="4047844" cy="2161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9" descr="What is a state machine?"/>
          <p:cNvPicPr preferRelativeResize="0"/>
          <p:nvPr/>
        </p:nvPicPr>
        <p:blipFill rotWithShape="1">
          <a:blip r:embed="rId6">
            <a:alphaModFix/>
          </a:blip>
          <a:srcRect l="4497" t="11870" r="2862" b="8125"/>
          <a:stretch/>
        </p:blipFill>
        <p:spPr>
          <a:xfrm>
            <a:off x="5608319" y="3917201"/>
            <a:ext cx="3048001" cy="2632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body" idx="1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51" lvl="0" indent="-256026" algn="l" rtl="0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LED turns on and off every second (LED Blinky)</a:t>
            </a:r>
            <a:endParaRPr/>
          </a:p>
          <a:p>
            <a:pPr marL="365751" lvl="0" indent="-909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endParaRPr/>
          </a:p>
          <a:p>
            <a:pPr marL="365751" lvl="0" indent="-2560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LED turns on for </a:t>
            </a:r>
            <a:r>
              <a:rPr lang="en-US" b="1"/>
              <a:t>3 seconds</a:t>
            </a:r>
            <a:r>
              <a:rPr lang="en-US"/>
              <a:t> and then turns off for </a:t>
            </a:r>
            <a:r>
              <a:rPr lang="en-US" b="1"/>
              <a:t>5 second</a:t>
            </a:r>
            <a:r>
              <a:rPr lang="en-US"/>
              <a:t>.</a:t>
            </a:r>
            <a:endParaRPr/>
          </a:p>
          <a:p>
            <a:pPr marL="365751" lvl="0" indent="-909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endParaRPr/>
          </a:p>
          <a:p>
            <a:pPr marL="365751" lvl="0" indent="-2560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Digital Clock with hour, minute and second</a:t>
            </a:r>
            <a:endParaRPr/>
          </a:p>
          <a:p>
            <a:pPr marL="365751" lvl="0" indent="-909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endParaRPr/>
          </a:p>
          <a:p>
            <a:pPr marL="365751" lvl="0" indent="-2560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Change the delay from 1000 to 10</a:t>
            </a:r>
            <a:endParaRPr/>
          </a:p>
          <a:p>
            <a:pPr marL="109725" lvl="0" indent="0" algn="l" rtl="0">
              <a:spcBef>
                <a:spcPts val="300"/>
              </a:spcBef>
              <a:spcAft>
                <a:spcPts val="0"/>
              </a:spcAft>
              <a:buSzPts val="2600"/>
              <a:buNone/>
            </a:pPr>
            <a:endParaRPr/>
          </a:p>
          <a:p>
            <a:pPr marL="365751" lvl="0" indent="-909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Warm up Exercises</a:t>
            </a:r>
            <a:endParaRPr/>
          </a:p>
        </p:txBody>
      </p:sp>
      <p:pic>
        <p:nvPicPr>
          <p:cNvPr id="194" name="Google Shape;19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23917" y="4815660"/>
            <a:ext cx="3720083" cy="198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C Language: Header and C++ Files </a:t>
            </a:r>
            <a:endParaRPr/>
          </a:p>
        </p:txBody>
      </p:sp>
      <p:sp>
        <p:nvSpPr>
          <p:cNvPr id="200" name="Google Shape;200;p10"/>
          <p:cNvSpPr txBox="1"/>
          <p:nvPr/>
        </p:nvSpPr>
        <p:spPr>
          <a:xfrm>
            <a:off x="420711" y="2371531"/>
            <a:ext cx="3226729" cy="3970318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#ifndef  </a:t>
            </a: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__LED_H_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#define </a:t>
            </a: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__LED_H_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&lt;system_lib.h&gt;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“user_lib.h”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“UserFolder/lib.h”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extern int T_on;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extern int T_off;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setOn(long duration);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setoff(long duration);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#endif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5199844" y="2233031"/>
            <a:ext cx="3226729" cy="4247317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“led.h”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T_on;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T_off;  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counter;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setOn(long duration){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//TODO: set LED on here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setoff(long duration){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//TODO: set LED off here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delay(long duration){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//TODO: set delay here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pic>
        <p:nvPicPr>
          <p:cNvPr id="202" name="Google Shape;202;p10" descr="Image result for C header file and cpp ic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015" y="1300163"/>
            <a:ext cx="985837" cy="985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0" descr="Related 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56068" y="1183481"/>
            <a:ext cx="1219200" cy="12192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4" name="Google Shape;204;p10"/>
          <p:cNvCxnSpPr/>
          <p:nvPr/>
        </p:nvCxnSpPr>
        <p:spPr>
          <a:xfrm rot="10800000" flipH="1">
            <a:off x="2286000" y="3129200"/>
            <a:ext cx="2913900" cy="1544400"/>
          </a:xfrm>
          <a:prstGeom prst="bentConnector3">
            <a:avLst>
              <a:gd name="adj1" fmla="val 6220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05" name="Google Shape;205;p10"/>
          <p:cNvCxnSpPr/>
          <p:nvPr/>
        </p:nvCxnSpPr>
        <p:spPr>
          <a:xfrm rot="10800000" flipH="1">
            <a:off x="2987040" y="4084240"/>
            <a:ext cx="2212800" cy="1239600"/>
          </a:xfrm>
          <a:prstGeom prst="bentConnector3">
            <a:avLst>
              <a:gd name="adj1" fmla="val 61020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06" name="Google Shape;206;p10"/>
          <p:cNvCxnSpPr/>
          <p:nvPr/>
        </p:nvCxnSpPr>
        <p:spPr>
          <a:xfrm rot="10800000" flipH="1">
            <a:off x="2987040" y="4887942"/>
            <a:ext cx="2212800" cy="740700"/>
          </a:xfrm>
          <a:prstGeom prst="bentConnector3">
            <a:avLst>
              <a:gd name="adj1" fmla="val 71580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C Language: Main File</a:t>
            </a:r>
            <a:endParaRPr/>
          </a:p>
        </p:txBody>
      </p:sp>
      <p:pic>
        <p:nvPicPr>
          <p:cNvPr id="212" name="Google Shape;212;p11" descr="Image result for C header file and cpp ic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9944" y="1633867"/>
            <a:ext cx="706189" cy="70619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1"/>
          <p:cNvSpPr/>
          <p:nvPr/>
        </p:nvSpPr>
        <p:spPr>
          <a:xfrm>
            <a:off x="253779" y="1569721"/>
            <a:ext cx="822992" cy="164935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11" descr="Related 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9944" y="2360122"/>
            <a:ext cx="686398" cy="68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1" descr="Image result for C header file and cpp ic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9101" y="2458544"/>
            <a:ext cx="706189" cy="70619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1"/>
          <p:cNvSpPr/>
          <p:nvPr/>
        </p:nvSpPr>
        <p:spPr>
          <a:xfrm>
            <a:off x="1122936" y="2394398"/>
            <a:ext cx="822992" cy="164935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1" descr="Related 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9101" y="3184799"/>
            <a:ext cx="686398" cy="68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1" descr="Image result for C header file and cpp ic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38258" y="3486880"/>
            <a:ext cx="706189" cy="70619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1"/>
          <p:cNvSpPr/>
          <p:nvPr/>
        </p:nvSpPr>
        <p:spPr>
          <a:xfrm>
            <a:off x="1992093" y="3422734"/>
            <a:ext cx="822992" cy="164935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1" descr="Related 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258" y="4213135"/>
            <a:ext cx="686398" cy="68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1" descr="Image result for C header file and cpp ic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07415" y="4311557"/>
            <a:ext cx="706189" cy="70619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1"/>
          <p:cNvSpPr/>
          <p:nvPr/>
        </p:nvSpPr>
        <p:spPr>
          <a:xfrm>
            <a:off x="2861250" y="4247411"/>
            <a:ext cx="822992" cy="164935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11" descr="Related 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07415" y="5037812"/>
            <a:ext cx="686398" cy="68639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1"/>
          <p:cNvSpPr/>
          <p:nvPr/>
        </p:nvSpPr>
        <p:spPr>
          <a:xfrm>
            <a:off x="3840815" y="1338985"/>
            <a:ext cx="2397616" cy="5284006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4111514" y="1478495"/>
            <a:ext cx="3093578" cy="5909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“led.h”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“timer.h”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“gpio.h”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“button.h”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main(){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initGPIO();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initTimer();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initButton();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initLED();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….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….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while(1){};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void timer_isr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void ext_isr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359798" y="3269447"/>
            <a:ext cx="5373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1110597" y="4063818"/>
            <a:ext cx="788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2038258" y="5057113"/>
            <a:ext cx="65915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 txBox="1"/>
          <p:nvPr/>
        </p:nvSpPr>
        <p:spPr>
          <a:xfrm>
            <a:off x="2861250" y="5896766"/>
            <a:ext cx="9795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BUTTON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 txBox="1">
            <a:spLocks noGrp="1"/>
          </p:cNvSpPr>
          <p:nvPr>
            <p:ph type="body" idx="1"/>
          </p:nvPr>
        </p:nvSpPr>
        <p:spPr>
          <a:xfrm>
            <a:off x="6395007" y="5426447"/>
            <a:ext cx="2600400" cy="9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365751" lvl="0" indent="-256026" algn="l" rtl="0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System operations are implemented in </a:t>
            </a:r>
            <a:r>
              <a:rPr lang="en-US" b="1">
                <a:solidFill>
                  <a:srgbClr val="FF0000"/>
                </a:solidFill>
              </a:rPr>
              <a:t>interrupt functions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6357856" y="1562658"/>
            <a:ext cx="2600465" cy="789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65751" marR="0" lvl="0" indent="-256025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Modules/ Libraries are included</a:t>
            </a:r>
            <a:endParaRPr sz="2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2" name="Google Shape;232;p11"/>
          <p:cNvSpPr txBox="1"/>
          <p:nvPr/>
        </p:nvSpPr>
        <p:spPr>
          <a:xfrm>
            <a:off x="6357855" y="3219075"/>
            <a:ext cx="2600465" cy="789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65751" marR="0" lvl="0" indent="-256025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Modules/ Libraries are initiated</a:t>
            </a:r>
            <a:endParaRPr sz="2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 txBox="1">
            <a:spLocks noGrp="1"/>
          </p:cNvSpPr>
          <p:nvPr>
            <p:ph type="body" idx="1"/>
          </p:nvPr>
        </p:nvSpPr>
        <p:spPr>
          <a:xfrm>
            <a:off x="38529" y="1283517"/>
            <a:ext cx="9010221" cy="1271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65751" lvl="0" indent="-256026" algn="l" rtl="0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 b="1"/>
              <a:t>Finite-State Machine</a:t>
            </a:r>
            <a:r>
              <a:rPr lang="en-US"/>
              <a:t> (</a:t>
            </a:r>
            <a:r>
              <a:rPr lang="en-US" b="1"/>
              <a:t>FSM</a:t>
            </a:r>
            <a:r>
              <a:rPr lang="en-US"/>
              <a:t>) or </a:t>
            </a:r>
            <a:r>
              <a:rPr lang="en-US" b="1"/>
              <a:t>Deterministic</a:t>
            </a:r>
            <a:r>
              <a:rPr lang="en-US"/>
              <a:t> </a:t>
            </a:r>
            <a:r>
              <a:rPr lang="en-US" b="1"/>
              <a:t>Finite Automata</a:t>
            </a:r>
            <a:r>
              <a:rPr lang="en-US"/>
              <a:t> (</a:t>
            </a:r>
            <a:r>
              <a:rPr lang="en-US" b="1"/>
              <a:t>DFA</a:t>
            </a:r>
            <a:r>
              <a:rPr lang="en-US"/>
              <a:t>), </a:t>
            </a:r>
            <a:r>
              <a:rPr lang="en-US" b="1"/>
              <a:t>finite automaton</a:t>
            </a:r>
            <a:r>
              <a:rPr lang="en-US"/>
              <a:t>, or simply a </a:t>
            </a:r>
            <a:r>
              <a:rPr lang="en-US" b="1"/>
              <a:t>state machine</a:t>
            </a:r>
            <a:r>
              <a:rPr lang="en-US"/>
              <a:t>, is a mathematical </a:t>
            </a:r>
            <a:r>
              <a:rPr lang="en-US" u="sng">
                <a:solidFill>
                  <a:schemeClr val="hlink"/>
                </a:solidFill>
                <a:hlinkClick r:id="rId3"/>
              </a:rPr>
              <a:t>model of computation</a:t>
            </a:r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Finite State Machine (FSM)</a:t>
            </a:r>
            <a:endParaRPr/>
          </a:p>
        </p:txBody>
      </p:sp>
      <p:pic>
        <p:nvPicPr>
          <p:cNvPr id="239" name="Google Shape;239;p13" descr="https://upload.wikimedia.org/wikipedia/commons/9/97/Torniqueterevolution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6079" y="2752769"/>
            <a:ext cx="1307745" cy="198807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3"/>
          <p:cNvSpPr txBox="1"/>
          <p:nvPr/>
        </p:nvSpPr>
        <p:spPr>
          <a:xfrm>
            <a:off x="7254910" y="4219622"/>
            <a:ext cx="11978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turnstile</a:t>
            </a:r>
            <a:endParaRPr/>
          </a:p>
        </p:txBody>
      </p:sp>
      <p:graphicFrame>
        <p:nvGraphicFramePr>
          <p:cNvPr id="241" name="Google Shape;241;p13"/>
          <p:cNvGraphicFramePr/>
          <p:nvPr/>
        </p:nvGraphicFramePr>
        <p:xfrm>
          <a:off x="648857" y="2654414"/>
          <a:ext cx="4637525" cy="1854250"/>
        </p:xfrm>
        <a:graphic>
          <a:graphicData uri="http://schemas.openxmlformats.org/drawingml/2006/table">
            <a:tbl>
              <a:tblPr firstRow="1" bandRow="1">
                <a:noFill/>
                <a:tableStyleId>{D49CE96C-D3BE-4F5A-92E7-CED2EAD0818A}</a:tableStyleId>
              </a:tblPr>
              <a:tblGrid>
                <a:gridCol w="154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Current State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Input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Next State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Locked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Coin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Unlocked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Push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Locked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Unlocked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Coin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Unlocked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Push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Locked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42" name="Google Shape;242;p13" descr="File:Turnstile state machine colored.svg"/>
          <p:cNvPicPr preferRelativeResize="0"/>
          <p:nvPr/>
        </p:nvPicPr>
        <p:blipFill rotWithShape="1">
          <a:blip r:embed="rId5">
            <a:alphaModFix/>
          </a:blip>
          <a:srcRect l="5896" t="12574" r="5657" b="12318"/>
          <a:stretch/>
        </p:blipFill>
        <p:spPr>
          <a:xfrm>
            <a:off x="1956122" y="4938421"/>
            <a:ext cx="4919241" cy="1813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 txBox="1">
            <a:spLocks noGrp="1"/>
          </p:cNvSpPr>
          <p:nvPr>
            <p:ph type="body" idx="1"/>
          </p:nvPr>
        </p:nvSpPr>
        <p:spPr>
          <a:xfrm>
            <a:off x="38529" y="1283517"/>
            <a:ext cx="8353441" cy="543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09725" lvl="0" indent="0" algn="l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(1){</a:t>
            </a:r>
            <a:endParaRPr/>
          </a:p>
          <a:p>
            <a:pPr marL="402326" lvl="1" indent="0" algn="just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switch(status){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LOCKED: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lock_turnstile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(); //operation in a state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if(Coin == true)  //transition condition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status = UNLOCKED; //next state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UNLOCKED: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unlock_turnstile</a:t>
            </a: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//operation in a state</a:t>
            </a:r>
            <a:endParaRPr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if(Push == true)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//transition condition</a:t>
            </a:r>
            <a:endParaRPr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-US" b="1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status = LOCKED; //next state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109725" lvl="0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8" name="Google Shape;248;p14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Finite State Machine Programming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"/>
          <p:cNvSpPr txBox="1">
            <a:spLocks noGrp="1"/>
          </p:cNvSpPr>
          <p:nvPr>
            <p:ph type="body" idx="1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51" lvl="0" indent="-256026" algn="l" rtl="0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Given an LED turns on for </a:t>
            </a:r>
            <a:r>
              <a:rPr lang="en-US" b="1"/>
              <a:t>T_on</a:t>
            </a:r>
            <a:r>
              <a:rPr lang="en-US"/>
              <a:t> and then turns off for </a:t>
            </a:r>
            <a:r>
              <a:rPr lang="en-US" b="1"/>
              <a:t>T_off</a:t>
            </a:r>
            <a:r>
              <a:rPr lang="en-US"/>
              <a:t>.</a:t>
            </a:r>
            <a:endParaRPr/>
          </a:p>
          <a:p>
            <a:pPr marL="658352" lvl="1" indent="-246882" algn="just" rtl="0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Design an DFA for this LED</a:t>
            </a:r>
            <a:endParaRPr/>
          </a:p>
          <a:p>
            <a:pPr marL="658352" lvl="1" indent="-246882" algn="just" rtl="0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Implement the DFA in Arduino</a:t>
            </a:r>
            <a:endParaRPr/>
          </a:p>
          <a:p>
            <a:pPr marL="658352" lvl="1" indent="-94482" algn="just" rtl="0">
              <a:spcBef>
                <a:spcPts val="30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365751" lvl="0" indent="-2560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digitalWrite(13, HIGH)</a:t>
            </a:r>
            <a:r>
              <a:rPr lang="en-US"/>
              <a:t>: turn on the LED</a:t>
            </a:r>
            <a:endParaRPr/>
          </a:p>
          <a:p>
            <a:pPr marL="365751" lvl="0" indent="-2560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digitalWrite(13, LOW): </a:t>
            </a:r>
            <a:r>
              <a:rPr lang="en-US"/>
              <a:t>turn off the LED</a:t>
            </a:r>
            <a:endParaRPr/>
          </a:p>
          <a:p>
            <a:pPr marL="365751" lvl="0" indent="-2560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setTime(duration): </a:t>
            </a:r>
            <a:r>
              <a:rPr lang="en-US"/>
              <a:t>set a clock (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timer_flag = 0</a:t>
            </a:r>
            <a:r>
              <a:rPr lang="en-US"/>
              <a:t>), when the clock is expired,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timer_flag = 1</a:t>
            </a:r>
            <a:r>
              <a:rPr lang="en-US"/>
              <a:t>; duration is in mili-seconds.</a:t>
            </a:r>
            <a:endParaRPr/>
          </a:p>
        </p:txBody>
      </p:sp>
      <p:sp>
        <p:nvSpPr>
          <p:cNvPr id="254" name="Google Shape;254;p15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Example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"/>
          <p:cNvSpPr txBox="1">
            <a:spLocks noGrp="1"/>
          </p:cNvSpPr>
          <p:nvPr>
            <p:ph type="body" idx="1"/>
          </p:nvPr>
        </p:nvSpPr>
        <p:spPr>
          <a:xfrm>
            <a:off x="0" y="4039293"/>
            <a:ext cx="9010221" cy="193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51" lvl="0" indent="-256026" algn="l" rtl="0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INIT: Set pin 13 to OUTPUT mode, set timer</a:t>
            </a:r>
            <a:endParaRPr/>
          </a:p>
          <a:p>
            <a:pPr marL="365751" lvl="0" indent="-2560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LED_ON: Turn on the LED</a:t>
            </a:r>
            <a:endParaRPr/>
          </a:p>
          <a:p>
            <a:pPr marL="365751" lvl="0" indent="-2560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LED_OFF: Turn off the LED </a:t>
            </a:r>
            <a:endParaRPr/>
          </a:p>
        </p:txBody>
      </p:sp>
      <p:sp>
        <p:nvSpPr>
          <p:cNvPr id="260" name="Google Shape;260;p16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Answer</a:t>
            </a:r>
            <a:endParaRPr/>
          </a:p>
        </p:txBody>
      </p:sp>
      <p:sp>
        <p:nvSpPr>
          <p:cNvPr id="261" name="Google Shape;261;p16"/>
          <p:cNvSpPr/>
          <p:nvPr/>
        </p:nvSpPr>
        <p:spPr>
          <a:xfrm>
            <a:off x="883920" y="2031876"/>
            <a:ext cx="1280160" cy="1075751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3415880" y="2033208"/>
            <a:ext cx="2255520" cy="1075751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LED_ON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6286500" y="2094168"/>
            <a:ext cx="2255520" cy="1075751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LED_OFF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16"/>
          <p:cNvCxnSpPr>
            <a:stCxn id="261" idx="6"/>
            <a:endCxn id="262" idx="2"/>
          </p:cNvCxnSpPr>
          <p:nvPr/>
        </p:nvCxnSpPr>
        <p:spPr>
          <a:xfrm>
            <a:off x="2164080" y="2569752"/>
            <a:ext cx="1251900" cy="1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65" name="Google Shape;265;p16"/>
          <p:cNvCxnSpPr>
            <a:stCxn id="262" idx="0"/>
            <a:endCxn id="263" idx="0"/>
          </p:cNvCxnSpPr>
          <p:nvPr/>
        </p:nvCxnSpPr>
        <p:spPr>
          <a:xfrm rot="-5400000" flipH="1">
            <a:off x="5948540" y="628308"/>
            <a:ext cx="60900" cy="2870700"/>
          </a:xfrm>
          <a:prstGeom prst="bentConnector3">
            <a:avLst>
              <a:gd name="adj1" fmla="val -813300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66" name="Google Shape;266;p16"/>
          <p:cNvCxnSpPr>
            <a:stCxn id="263" idx="4"/>
            <a:endCxn id="262" idx="4"/>
          </p:cNvCxnSpPr>
          <p:nvPr/>
        </p:nvCxnSpPr>
        <p:spPr>
          <a:xfrm rot="5400000" flipH="1">
            <a:off x="5948460" y="1704119"/>
            <a:ext cx="60900" cy="2870700"/>
          </a:xfrm>
          <a:prstGeom prst="bentConnector3">
            <a:avLst>
              <a:gd name="adj1" fmla="val -763251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7" name="Google Shape;267;p16"/>
          <p:cNvSpPr txBox="1"/>
          <p:nvPr/>
        </p:nvSpPr>
        <p:spPr>
          <a:xfrm>
            <a:off x="5250850" y="1135963"/>
            <a:ext cx="16065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timer_flag ==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5175685" y="3236872"/>
            <a:ext cx="16065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timer_flag ==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Answer (Arduino Code)</a:t>
            </a:r>
            <a:endParaRPr/>
          </a:p>
        </p:txBody>
      </p:sp>
      <p:sp>
        <p:nvSpPr>
          <p:cNvPr id="274" name="Google Shape;274;p17"/>
          <p:cNvSpPr txBox="1">
            <a:spLocks noGrp="1"/>
          </p:cNvSpPr>
          <p:nvPr>
            <p:ph type="body" idx="1"/>
          </p:nvPr>
        </p:nvSpPr>
        <p:spPr>
          <a:xfrm>
            <a:off x="38529" y="1283517"/>
            <a:ext cx="4160091" cy="543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109725" lvl="0" indent="0" algn="l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void loop()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402326" lvl="1" indent="0" algn="just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switch(status){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INIT: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pinMode(13, OUTPUT);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setTimer(T_on);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status = LED_ON;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digitalWrite(13, HIGH);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LED_ON: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if(timer_flag == 1){</a:t>
            </a:r>
            <a:endParaRPr/>
          </a:p>
          <a:p>
            <a:pPr marL="402326" lvl="1" indent="0" algn="just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   	status = LED_OFF;</a:t>
            </a:r>
            <a:endParaRPr/>
          </a:p>
          <a:p>
            <a:pPr marL="402326" lvl="1" indent="0" algn="just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   	setTimer(T_off);</a:t>
            </a:r>
            <a:endParaRPr/>
          </a:p>
          <a:p>
            <a:pPr marL="402326" lvl="1" indent="0" algn="just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 digitalWrite(13, LOW);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LED_OFF: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if(timer_flag == 1){</a:t>
            </a:r>
            <a:endParaRPr/>
          </a:p>
          <a:p>
            <a:pPr marL="402326" lvl="1" indent="0" algn="just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   	status = LED_ON;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402326" lvl="1" indent="0" algn="just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   	setTimer(T_on);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402326" lvl="1" indent="0" algn="just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  	digitalWrite(13, HIGH);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667495" lvl="2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109725" lvl="0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delay(10);</a:t>
            </a:r>
            <a:endParaRPr/>
          </a:p>
          <a:p>
            <a:pPr marL="109725" lvl="0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5" name="Google Shape;275;p17"/>
          <p:cNvSpPr txBox="1"/>
          <p:nvPr/>
        </p:nvSpPr>
        <p:spPr>
          <a:xfrm>
            <a:off x="4663869" y="1421242"/>
            <a:ext cx="4160091" cy="543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09725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void timer_run()</a:t>
            </a: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109725" marR="0" lvl="0" indent="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if(timer_counter &gt; 0)</a:t>
            </a:r>
            <a:endParaRPr/>
          </a:p>
          <a:p>
            <a:pPr marL="109725" marR="0" lvl="0" indent="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timer_counter--;</a:t>
            </a:r>
            <a:endParaRPr/>
          </a:p>
          <a:p>
            <a:pPr marL="109725" marR="0" lvl="0" indent="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if(counter_timer == 0)</a:t>
            </a:r>
            <a:endParaRPr/>
          </a:p>
          <a:p>
            <a:pPr marL="109725" marR="0" lvl="0" indent="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timer_flag =1;</a:t>
            </a:r>
            <a:endParaRPr/>
          </a:p>
          <a:p>
            <a:pPr marL="109725" marR="0" lvl="0" indent="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109725" marR="0" lvl="0" indent="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void setTimer</a:t>
            </a: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(long duration){</a:t>
            </a:r>
            <a:endParaRPr/>
          </a:p>
          <a:p>
            <a:pPr marL="109725" marR="0" lvl="0" indent="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timer_counter = duration;</a:t>
            </a:r>
            <a:endParaRPr/>
          </a:p>
          <a:p>
            <a:pPr marL="109725" marR="0" lvl="0" indent="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timer_flag = 0;</a:t>
            </a:r>
            <a:endParaRPr/>
          </a:p>
          <a:p>
            <a:pPr marL="109725" marR="0" lvl="0" indent="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raining presentation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1050</Words>
  <Application>Microsoft Office PowerPoint</Application>
  <PresentationFormat>On-screen Show (4:3)</PresentationFormat>
  <Paragraphs>203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Century Gothic</vt:lpstr>
      <vt:lpstr>Courier New</vt:lpstr>
      <vt:lpstr>Tahoma</vt:lpstr>
      <vt:lpstr>Calibri</vt:lpstr>
      <vt:lpstr>Arial</vt:lpstr>
      <vt:lpstr>Georgia</vt:lpstr>
      <vt:lpstr>Noto Sans Symbols</vt:lpstr>
      <vt:lpstr>Impact</vt:lpstr>
      <vt:lpstr>Training presentation</vt:lpstr>
      <vt:lpstr>Micro Processing System  Micro-Controller and Micro-Processor Unit</vt:lpstr>
      <vt:lpstr>Zalo Group</vt:lpstr>
      <vt:lpstr>15 Weeks for Lectures </vt:lpstr>
      <vt:lpstr>Weeks for Labs</vt:lpstr>
      <vt:lpstr>Microcontroller and Microprocessor Applications</vt:lpstr>
      <vt:lpstr>Microprocessor vs Microcontroller</vt:lpstr>
      <vt:lpstr>Micro-Controller Platform</vt:lpstr>
      <vt:lpstr>Program on MPU vs MCU</vt:lpstr>
      <vt:lpstr>Warm up Exercises</vt:lpstr>
      <vt:lpstr>C Language: Header and C++ Files </vt:lpstr>
      <vt:lpstr>C Language: Main File</vt:lpstr>
      <vt:lpstr>Finite State Machine (FSM)</vt:lpstr>
      <vt:lpstr>Finite State Machine Programming</vt:lpstr>
      <vt:lpstr>Example</vt:lpstr>
      <vt:lpstr>Answer</vt:lpstr>
      <vt:lpstr>Answer (Arduino Code)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user01</cp:lastModifiedBy>
  <cp:revision>5</cp:revision>
  <dcterms:created xsi:type="dcterms:W3CDTF">2014-07-29T03:47:45Z</dcterms:created>
  <dcterms:modified xsi:type="dcterms:W3CDTF">2025-09-13T03:26:03Z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TC034606049991</vt:lpwstr>
  </property>
</Properties>
</file>