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7102475" cy="10233025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Impact" panose="020B0806030902050204" pitchFamily="34" charset="0"/>
      <p:regular r:id="rId26"/>
    </p:embeddedFont>
    <p:embeddedFont>
      <p:font typeface="Tahoma" panose="020B0604030504040204" pitchFamily="3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xYMF1Jh2X/VLz27UfUCuRDPBX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52"/>
      </p:cViewPr>
      <p:guideLst>
        <p:guide orient="horz" pos="2160"/>
        <p:guide pos="3840"/>
        <p:guide pos="7296"/>
        <p:guide orient="horz" pos="4128"/>
        <p:guide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4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c3194446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800" cy="34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7c31944463_3_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27c31944463_3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/>
          <p:nvPr/>
        </p:nvSpPr>
        <p:spPr>
          <a:xfrm rot="10800000" flipH="1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6"/>
          <p:cNvSpPr/>
          <p:nvPr/>
        </p:nvSpPr>
        <p:spPr>
          <a:xfrm rot="10800000" flipH="1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6"/>
          <p:cNvSpPr/>
          <p:nvPr/>
        </p:nvSpPr>
        <p:spPr>
          <a:xfrm rot="10800000" flipH="1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6"/>
          <p:cNvSpPr/>
          <p:nvPr/>
        </p:nvSpPr>
        <p:spPr>
          <a:xfrm rot="10800000" flipH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6"/>
          <p:cNvSpPr/>
          <p:nvPr/>
        </p:nvSpPr>
        <p:spPr>
          <a:xfrm rot="10800000" flipH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6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6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6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6"/>
          <p:cNvSpPr/>
          <p:nvPr/>
        </p:nvSpPr>
        <p:spPr>
          <a:xfrm rot="10800000" flipH="1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6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6"/>
          <p:cNvSpPr txBox="1">
            <a:spLocks noGrp="1"/>
          </p:cNvSpPr>
          <p:nvPr>
            <p:ph type="subTitle" idx="1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370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81000" algn="just"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lvl="2" indent="-3810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68300" algn="l"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200" b="1" i="0" u="none" strike="noStrike" cap="none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100"/>
              <a:buNone/>
              <a:defRPr sz="21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sz="4300" b="1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925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925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900"/>
              <a:buNone/>
              <a:defRPr sz="1900" b="1">
                <a:solidFill>
                  <a:srgbClr val="414141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900"/>
              <a:buNone/>
              <a:defRPr sz="1900" b="1">
                <a:solidFill>
                  <a:srgbClr val="414141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body" idx="1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marL="1371600" lvl="2" indent="-3810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body" idx="2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4"/>
          <p:cNvSpPr>
            <a:spLocks noGrp="1"/>
          </p:cNvSpPr>
          <p:nvPr>
            <p:ph type="pic" idx="2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w="508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31750" dir="4800000" algn="tl" rotWithShape="0">
              <a:srgbClr val="000000">
                <a:alpha val="24705"/>
              </a:srgbClr>
            </a:outerShdw>
          </a:effectLst>
        </p:spPr>
      </p:sp>
      <p:sp>
        <p:nvSpPr>
          <p:cNvPr id="89" name="Google Shape;89;p24"/>
          <p:cNvSpPr txBox="1">
            <a:spLocks noGrp="1"/>
          </p:cNvSpPr>
          <p:nvPr>
            <p:ph type="body" idx="1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1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body" idx="1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5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5"/>
          <p:cNvSpPr/>
          <p:nvPr/>
        </p:nvSpPr>
        <p:spPr>
          <a:xfrm rot="10800000" flipH="1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5"/>
          <p:cNvSpPr/>
          <p:nvPr/>
        </p:nvSpPr>
        <p:spPr>
          <a:xfrm rot="10800000" flipH="1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5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5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5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5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5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5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5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5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5"/>
          <p:cNvSpPr txBox="1">
            <a:spLocks noGrp="1"/>
          </p:cNvSpPr>
          <p:nvPr>
            <p:ph type="dt" idx="10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ftr" idx="11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sldNum" idx="12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mbetronicx.com/tutorials/tech_devices/understanding-the-microcontroller-gpio-gpio-working-explained/#High-impedanc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mbetronicx.com/tutorials/tech_devices/understanding-the-microcontroller-gpio-gpio-working-explained/#Pull-down" TargetMode="External"/><Relationship Id="rId4" Type="http://schemas.openxmlformats.org/officeDocument/2006/relationships/hyperlink" Target="https://embetronicx.com/tutorials/tech_devices/understanding-the-microcontroller-gpio-gpio-working-explained/#Pull-u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mbetronicx.com/tutorials/tech_devices/understanding-the-microcontroller-gpio-gpio-working-explained/#Push-pul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mbetronicx.com/tutorials/tech_devices/understanding-the-microcontroller-gpio-gpio-working-explained/#Open-drain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en_collecto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uBKAAFxjg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b5K0uxedVDw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Microcontroller GPIO</a:t>
            </a:r>
            <a:endParaRPr/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3">
            <a:alphaModFix/>
          </a:blip>
          <a:srcRect l="5793" t="11261"/>
          <a:stretch/>
        </p:blipFill>
        <p:spPr>
          <a:xfrm>
            <a:off x="3022900" y="4007715"/>
            <a:ext cx="5628898" cy="2499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 descr="Một số khái niệm căn bản về GPIO của Vi điều khiển &quot;push-pull&quot; và  &quot;open-drain&quot; - Điện Tử Hell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9635" y="4029403"/>
            <a:ext cx="2903907" cy="174234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0CEB11F-978D-DF8E-EA14-82108D591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GPIO Output Mode</a:t>
            </a: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GPIO Input Mode</a:t>
            </a: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Analog Mode</a:t>
            </a: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Alternative function Mode</a:t>
            </a:r>
            <a:endParaRPr/>
          </a:p>
        </p:txBody>
      </p:sp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Content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body" idx="1"/>
          </p:nvPr>
        </p:nvSpPr>
        <p:spPr>
          <a:xfrm>
            <a:off x="5428859" y="822960"/>
            <a:ext cx="3619891" cy="589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 b="1"/>
              <a:t>T1</a:t>
            </a:r>
            <a:r>
              <a:rPr lang="en-US" sz="2400"/>
              <a:t> is the PMOS </a:t>
            </a:r>
            <a:endParaRPr sz="2400"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and </a:t>
            </a:r>
            <a:r>
              <a:rPr lang="en-US" sz="2400" b="1"/>
              <a:t>T2</a:t>
            </a:r>
            <a:r>
              <a:rPr lang="en-US" sz="2400"/>
              <a:t> is the NMOS.</a:t>
            </a:r>
            <a:endParaRPr/>
          </a:p>
          <a:p>
            <a:pPr marL="365751" lvl="0" indent="-103626" algn="l" rtl="0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When we write </a:t>
            </a:r>
            <a:r>
              <a:rPr lang="en-US" sz="2400" b="1"/>
              <a:t>1</a:t>
            </a:r>
            <a:r>
              <a:rPr lang="en-US" sz="2400"/>
              <a:t> from our code, the first inverter will make it as </a:t>
            </a:r>
            <a:r>
              <a:rPr lang="en-US" sz="2400" b="1"/>
              <a:t>0</a:t>
            </a:r>
            <a:endParaRPr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ts val="2400"/>
              <a:buNone/>
            </a:pPr>
            <a:endParaRPr sz="2400" b="1"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 b="1"/>
              <a:t>T1</a:t>
            </a:r>
            <a:r>
              <a:rPr lang="en-US" sz="2400"/>
              <a:t> will be activated and </a:t>
            </a:r>
            <a:r>
              <a:rPr lang="en-US" sz="2400" b="1"/>
              <a:t>T2</a:t>
            </a:r>
            <a:r>
              <a:rPr lang="en-US" sz="2400"/>
              <a:t> will be deactivated</a:t>
            </a:r>
            <a:endParaRPr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 b="1"/>
              <a:t>T1</a:t>
            </a:r>
            <a:r>
              <a:rPr lang="en-US" sz="2400"/>
              <a:t> will take the </a:t>
            </a:r>
            <a:r>
              <a:rPr lang="en-US" sz="2400" b="1"/>
              <a:t>Vcc</a:t>
            </a:r>
            <a:r>
              <a:rPr lang="en-US" sz="2400"/>
              <a:t> and give it to the GPIO pin</a:t>
            </a:r>
            <a:endParaRPr sz="2400"/>
          </a:p>
        </p:txBody>
      </p:sp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Output</a:t>
            </a:r>
            <a:endParaRPr/>
          </a:p>
        </p:txBody>
      </p:sp>
      <p:pic>
        <p:nvPicPr>
          <p:cNvPr id="125" name="Google Shape;125;p3" descr="Output Buff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737" y="1224794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 descr="GPIO High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947" y="4685735"/>
            <a:ext cx="2034540" cy="203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 descr="GPIO Lo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6191" y="4548010"/>
            <a:ext cx="2172265" cy="2172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44988" y="4399093"/>
            <a:ext cx="13244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Ouput HIGH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2635788" y="4399093"/>
            <a:ext cx="12930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Low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>
            <a:spLocks noGrp="1"/>
          </p:cNvSpPr>
          <p:nvPr>
            <p:ph type="body" idx="1"/>
          </p:nvPr>
        </p:nvSpPr>
        <p:spPr>
          <a:xfrm>
            <a:off x="5227320" y="1283517"/>
            <a:ext cx="3821430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65751" lvl="0" indent="-256025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When input GPIO = </a:t>
            </a:r>
            <a:r>
              <a:rPr lang="en-US" b="1"/>
              <a:t>1</a:t>
            </a:r>
            <a:r>
              <a:rPr lang="en-US"/>
              <a:t>, the inverter makes it as </a:t>
            </a:r>
            <a:r>
              <a:rPr lang="en-US" b="1"/>
              <a:t>0</a:t>
            </a:r>
            <a:endParaRPr/>
          </a:p>
          <a:p>
            <a:pPr marL="365751" lvl="0" indent="-115691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b="1"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 b="1"/>
              <a:t>PMOS</a:t>
            </a:r>
            <a:r>
              <a:rPr lang="en-US"/>
              <a:t> T1 is activated and the </a:t>
            </a:r>
            <a:r>
              <a:rPr lang="en-US" b="1"/>
              <a:t>NMOS</a:t>
            </a:r>
            <a:r>
              <a:rPr lang="en-US"/>
              <a:t> T2 is deactivated</a:t>
            </a:r>
            <a:endParaRPr/>
          </a:p>
          <a:p>
            <a:pPr marL="365751" lvl="0" indent="-115691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 b="1"/>
              <a:t>T1</a:t>
            </a:r>
            <a:r>
              <a:rPr lang="en-US"/>
              <a:t> will take the </a:t>
            </a:r>
            <a:r>
              <a:rPr lang="en-US" b="1"/>
              <a:t>Vcc </a:t>
            </a:r>
            <a:r>
              <a:rPr lang="en-US"/>
              <a:t>and give it to the processor 🡪 get </a:t>
            </a:r>
            <a:r>
              <a:rPr lang="en-US" b="1"/>
              <a:t>1</a:t>
            </a:r>
            <a:r>
              <a:rPr lang="en-US"/>
              <a:t> in the software program</a:t>
            </a:r>
            <a:endParaRPr/>
          </a:p>
          <a:p>
            <a:pPr marL="365751" lvl="0" indent="-115691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/>
          </a:p>
          <a:p>
            <a:pPr marL="365751" lvl="0" indent="-115691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Opposite behaviors occur when GPIO pin = </a:t>
            </a:r>
            <a:r>
              <a:rPr lang="en-US" b="1"/>
              <a:t>0</a:t>
            </a:r>
            <a:endParaRPr b="1"/>
          </a:p>
        </p:txBody>
      </p:sp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Input</a:t>
            </a:r>
            <a:endParaRPr/>
          </a:p>
        </p:txBody>
      </p:sp>
      <p:pic>
        <p:nvPicPr>
          <p:cNvPr id="136" name="Google Shape;136;p4" descr="GPIO Input Buffer"/>
          <p:cNvPicPr preferRelativeResize="0"/>
          <p:nvPr/>
        </p:nvPicPr>
        <p:blipFill rotWithShape="1">
          <a:blip r:embed="rId3">
            <a:alphaModFix/>
          </a:blip>
          <a:srcRect b="10932"/>
          <a:stretch/>
        </p:blipFill>
        <p:spPr>
          <a:xfrm>
            <a:off x="1104109" y="1224794"/>
            <a:ext cx="2466975" cy="254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 descr="Input buffer High and Low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29" y="4051990"/>
            <a:ext cx="5005865" cy="2546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High-impedance or Floating</a:t>
            </a: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4"/>
              </a:rPr>
              <a:t>Pull-up</a:t>
            </a: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5"/>
              </a:rPr>
              <a:t>Pull-down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Input Modes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>
            <a:spLocks noGrp="1"/>
          </p:cNvSpPr>
          <p:nvPr>
            <p:ph type="body" idx="1"/>
          </p:nvPr>
        </p:nvSpPr>
        <p:spPr>
          <a:xfrm>
            <a:off x="4050707" y="1283517"/>
            <a:ext cx="4998043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65751" lvl="0" indent="-256025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Whenever the microcontroller is powered ON, the GPIO pins are by default in this HIGH impedance state input mode.</a:t>
            </a:r>
            <a:endParaRPr/>
          </a:p>
          <a:p>
            <a:pPr marL="365751" lvl="0" indent="-14045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High-impedance or HI-Z State of a GPIO is the state when a pin is floating by not connecting to either </a:t>
            </a:r>
            <a:r>
              <a:rPr lang="en-US" b="1"/>
              <a:t>HIGH (VCC)</a:t>
            </a:r>
            <a:r>
              <a:rPr lang="en-US"/>
              <a:t> or </a:t>
            </a:r>
            <a:r>
              <a:rPr lang="en-US" b="1"/>
              <a:t>LOW (GND)</a:t>
            </a:r>
            <a:r>
              <a:rPr lang="en-US"/>
              <a:t> Voltage levels. </a:t>
            </a:r>
            <a:endParaRPr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Its state is indeterminate (cannot determine the logic level, which is </a:t>
            </a:r>
            <a:r>
              <a:rPr lang="en-US" b="1"/>
              <a:t>0</a:t>
            </a:r>
            <a:r>
              <a:rPr lang="en-US"/>
              <a:t> or </a:t>
            </a:r>
            <a:r>
              <a:rPr lang="en-US" b="1"/>
              <a:t>1</a:t>
            </a:r>
            <a:r>
              <a:rPr lang="en-US"/>
              <a:t>) unless it is driven high or low externally.</a:t>
            </a:r>
            <a:endParaRPr/>
          </a:p>
          <a:p>
            <a:pPr marL="365751" lvl="0" indent="-14045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Floating state can lead to leakage current, which may result in high power consumption because a floating pin is highly susceptible to picking up the noise and may result in leakage current.</a:t>
            </a:r>
            <a:endParaRPr/>
          </a:p>
          <a:p>
            <a:pPr marL="109725" lvl="0" indent="0" algn="l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365751" lvl="0" indent="-256025" algn="l" rtl="0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🡪 It is recommended to keep the unused pins in either a pull-up or pull-down state to avoid leakage of current. </a:t>
            </a:r>
            <a:endParaRPr/>
          </a:p>
        </p:txBody>
      </p: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High-impedance</a:t>
            </a:r>
            <a:endParaRPr/>
          </a:p>
        </p:txBody>
      </p:sp>
      <p:pic>
        <p:nvPicPr>
          <p:cNvPr id="150" name="Google Shape;150;p6" descr="High Impeda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575" y="1653610"/>
            <a:ext cx="3755877" cy="375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4819828" y="1283517"/>
            <a:ext cx="4228922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just" rtl="0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 internal </a:t>
            </a:r>
            <a:r>
              <a:rPr lang="en-US" b="1"/>
              <a:t>pull-up resistor</a:t>
            </a:r>
            <a:r>
              <a:rPr lang="en-US"/>
              <a:t> is connected to the pin. So, the state will be </a:t>
            </a:r>
            <a:r>
              <a:rPr lang="en-US" b="1"/>
              <a:t>HIGH</a:t>
            </a:r>
            <a:r>
              <a:rPr lang="en-US"/>
              <a:t> unless an external pull-down resistor is used. </a:t>
            </a:r>
            <a:endParaRPr/>
          </a:p>
          <a:p>
            <a:pPr marL="365751" lvl="0" indent="-90926" algn="just" rtl="0">
              <a:spcBef>
                <a:spcPts val="300"/>
              </a:spcBef>
              <a:spcAft>
                <a:spcPts val="0"/>
              </a:spcAft>
              <a:buSzPts val="2600"/>
              <a:buNone/>
            </a:pPr>
            <a:endParaRPr/>
          </a:p>
          <a:p>
            <a:pPr marL="365751" lvl="0" indent="-256026" algn="just" rtl="0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There will be a particular register to enable this pull-up resistor in the microcontroller (check  on the datasheet)</a:t>
            </a:r>
            <a:endParaRPr/>
          </a:p>
        </p:txBody>
      </p:sp>
      <p:sp>
        <p:nvSpPr>
          <p:cNvPr id="156" name="Google Shape;156;p7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Pull Up</a:t>
            </a:r>
            <a:endParaRPr/>
          </a:p>
        </p:txBody>
      </p:sp>
      <p:pic>
        <p:nvPicPr>
          <p:cNvPr id="157" name="Google Shape;157;p7" descr="Pullup resis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036" y="1627972"/>
            <a:ext cx="4200259" cy="4200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>
            <a:spLocks noGrp="1"/>
          </p:cNvSpPr>
          <p:nvPr>
            <p:ph type="body" idx="1"/>
          </p:nvPr>
        </p:nvSpPr>
        <p:spPr>
          <a:xfrm>
            <a:off x="4307080" y="1283517"/>
            <a:ext cx="4741670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just" rtl="0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In this type, the internal pull-down resistor is connected to the pin. So, the state will be </a:t>
            </a:r>
            <a:r>
              <a:rPr lang="en-US" b="1"/>
              <a:t>Low </a:t>
            </a:r>
            <a:r>
              <a:rPr lang="en-US"/>
              <a:t>unless an external pull-up resistor is used. </a:t>
            </a:r>
            <a:endParaRPr/>
          </a:p>
          <a:p>
            <a:pPr marL="109725" lvl="0" indent="0" algn="just" rtl="0">
              <a:spcBef>
                <a:spcPts val="300"/>
              </a:spcBef>
              <a:spcAft>
                <a:spcPts val="0"/>
              </a:spcAft>
              <a:buSzPts val="2600"/>
              <a:buNone/>
            </a:pPr>
            <a:endParaRPr/>
          </a:p>
          <a:p>
            <a:pPr marL="365751" lvl="0" indent="-256026" algn="just" rtl="0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There will be a particular register to enable this pull-down resistor in the microcontroller. </a:t>
            </a:r>
            <a:endParaRPr/>
          </a:p>
        </p:txBody>
      </p:sp>
      <p:sp>
        <p:nvSpPr>
          <p:cNvPr id="163" name="Google Shape;163;p8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Pull Down</a:t>
            </a:r>
            <a:endParaRPr/>
          </a:p>
        </p:txBody>
      </p:sp>
      <p:pic>
        <p:nvPicPr>
          <p:cNvPr id="164" name="Google Shape;164;p8" descr="Pull down resis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574" y="1875802"/>
            <a:ext cx="4029342" cy="402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GPIO is used to drive the electrical signal (high or low) to the pin when it is configured as a output. There are primarily two configuration options for GPIO outputs:</a:t>
            </a:r>
            <a:endParaRPr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u="sng">
                <a:solidFill>
                  <a:schemeClr val="hlink"/>
                </a:solidFill>
                <a:hlinkClick r:id="rId3"/>
              </a:rPr>
              <a:t>Push-pull</a:t>
            </a:r>
            <a:endParaRPr/>
          </a:p>
          <a:p>
            <a:pPr marL="658352" lvl="1" indent="-246882" algn="just" rtl="0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u="sng">
                <a:solidFill>
                  <a:schemeClr val="hlink"/>
                </a:solidFill>
                <a:hlinkClick r:id="rId4"/>
              </a:rPr>
              <a:t>Open-drain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Output Modes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This state is the default state of the GPIO output mode. The pin can “push” the signal high or “pull” it low using the </a:t>
            </a:r>
            <a:r>
              <a:rPr lang="en-US" b="1"/>
              <a:t>PMOS</a:t>
            </a:r>
            <a:r>
              <a:rPr lang="en-US"/>
              <a:t> transistor or </a:t>
            </a:r>
            <a:r>
              <a:rPr lang="en-US" b="1"/>
              <a:t>NMOS</a:t>
            </a:r>
            <a:r>
              <a:rPr lang="en-US"/>
              <a:t> transistor. 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There is no need for pull-up or pull-down resistors as the PMOS and NMOS transistors do that job. </a:t>
            </a:r>
            <a:endParaRPr/>
          </a:p>
        </p:txBody>
      </p:sp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Push-pull</a:t>
            </a:r>
            <a:endParaRPr/>
          </a:p>
        </p:txBody>
      </p:sp>
      <p:pic>
        <p:nvPicPr>
          <p:cNvPr id="177" name="Google Shape;177;p10" descr="GPIO Hig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888" y="4053344"/>
            <a:ext cx="2728085" cy="272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0" descr="GPIO Low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7164" y="4001896"/>
            <a:ext cx="2668395" cy="2668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2939754" y="1556981"/>
            <a:ext cx="6108997" cy="619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65751" lvl="0" indent="-256026" algn="just" rtl="0"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In GPIO output mode, the output buffer is formed using the PMOS and NMOS transistors. If you remove the PMOS transistor, then it will be an open drain output mode. </a:t>
            </a:r>
            <a:endParaRPr/>
          </a:p>
          <a:p>
            <a:pPr marL="365751" lvl="0" indent="-152838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365751" lvl="0" indent="-256026" algn="just" rtl="0"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The name comes from the fact that the MOSFET’s drain isn’t internally connected to anything. If you use BJT instead of MOSFET, then this is called an </a:t>
            </a:r>
            <a:r>
              <a:rPr lang="en-US" b="1" u="sng">
                <a:solidFill>
                  <a:schemeClr val="hlink"/>
                </a:solidFill>
                <a:hlinkClick r:id="rId3"/>
              </a:rPr>
              <a:t>Open collector</a:t>
            </a:r>
            <a:endParaRPr/>
          </a:p>
          <a:p>
            <a:pPr marL="109725" lvl="0" indent="0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365751" lvl="0" indent="-256026" algn="just" rtl="0"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When you make the NMOS to high, then it will supply a GND. The GPIO pin will be Low. </a:t>
            </a:r>
            <a:endParaRPr/>
          </a:p>
          <a:p>
            <a:pPr marL="365751" lvl="0" indent="-152838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365751" lvl="0" indent="-256026" algn="just" rtl="0"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When you turn off the NMOS, the GPIO will not be connected to either Vcc or GND. It will be in a floating state. So, the output will be either </a:t>
            </a:r>
            <a:r>
              <a:rPr lang="en-US" b="1"/>
              <a:t>Low</a:t>
            </a:r>
            <a:r>
              <a:rPr lang="en-US"/>
              <a:t> or </a:t>
            </a:r>
            <a:r>
              <a:rPr lang="en-US" b="1"/>
              <a:t>high impedance (floating)</a:t>
            </a:r>
            <a:r>
              <a:rPr lang="en-US"/>
              <a:t>. It can pull the pin towards the ground, but it cannot drive it high. </a:t>
            </a:r>
            <a:endParaRPr/>
          </a:p>
          <a:p>
            <a:pPr marL="365751" lvl="0" indent="-152838" algn="just" rtl="0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365751" lvl="0" indent="-256026" algn="just" rtl="0"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Open drain outputs are most commonly used in communication interfaces where multiple devices are connected on the same line (e.g. I2C, One-Wire, etc.). When all of the outputs of the devices connected to the line are in the Hi-Z state, the line is driven to a default logic 1 level by a pull-up. Any device can pull the line to logic 0 using its open drain ouput and all devices can see this level.</a:t>
            </a:r>
            <a:endParaRPr/>
          </a:p>
        </p:txBody>
      </p:sp>
      <p:sp>
        <p:nvSpPr>
          <p:cNvPr id="184" name="Google Shape;184;p11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Open-Drain</a:t>
            </a:r>
            <a:endParaRPr/>
          </a:p>
        </p:txBody>
      </p:sp>
      <p:pic>
        <p:nvPicPr>
          <p:cNvPr id="185" name="Google Shape;185;p11" descr="Open drain gpio"/>
          <p:cNvPicPr preferRelativeResize="0"/>
          <p:nvPr/>
        </p:nvPicPr>
        <p:blipFill rotWithShape="1">
          <a:blip r:embed="rId4">
            <a:alphaModFix/>
          </a:blip>
          <a:srcRect r="53306"/>
          <a:stretch/>
        </p:blipFill>
        <p:spPr>
          <a:xfrm>
            <a:off x="345641" y="1639117"/>
            <a:ext cx="2320647" cy="2300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1" descr="Open drain gpio"/>
          <p:cNvPicPr preferRelativeResize="0"/>
          <p:nvPr/>
        </p:nvPicPr>
        <p:blipFill rotWithShape="1">
          <a:blip r:embed="rId4">
            <a:alphaModFix/>
          </a:blip>
          <a:srcRect l="53429"/>
          <a:stretch/>
        </p:blipFill>
        <p:spPr>
          <a:xfrm>
            <a:off x="351803" y="4380542"/>
            <a:ext cx="2314485" cy="230049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1263648" y="3929192"/>
            <a:ext cx="484632" cy="45292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6F942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just" rtl="0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This mode connects the pin to an internal ADC (analog-to-digital converter) and allows you to read a value that represents a given voltage in a pin.</a:t>
            </a:r>
            <a:endParaRPr/>
          </a:p>
          <a:p>
            <a:pPr marL="365751" lvl="0" indent="-256026" algn="just" rtl="0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 value depends on the resolution of the ADC, for example, a 12-bit ADC can have values that go from 0 to 4095. </a:t>
            </a:r>
            <a:endParaRPr/>
          </a:p>
          <a:p>
            <a:pPr marL="365751" lvl="0" indent="-256026" algn="just" rtl="0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This value is mapped to a voltage that is between 0V and (usually) the voltage the microcontroller is running (3.3V for example).</a:t>
            </a:r>
            <a:endParaRPr/>
          </a:p>
          <a:p>
            <a:pPr marL="365751" lvl="0" indent="-256026" algn="just" rtl="0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When a GPIO is configured in analog mode the input pull-up/pull-down resistors are disconnected (floating).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Analog Mode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>
            <a:spLocks noGrp="1"/>
          </p:cNvSpPr>
          <p:nvPr>
            <p:ph type="body" idx="1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51" lvl="0" indent="-256026" algn="l" rtl="0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GPIO pins have the capability of providing an alternate function apart from the regular three modes. 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pins are multiplexed to provide functionalities: UART Rx/Tx pins, I2C pins, etc. </a:t>
            </a:r>
            <a:endParaRPr/>
          </a:p>
          <a:p>
            <a:pPr marL="365751" lvl="0" indent="-909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endParaRPr/>
          </a:p>
          <a:p>
            <a:pPr marL="365751" lvl="0" indent="-256026" algn="l" rtl="0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There will be a separate register to set the alternate functions. </a:t>
            </a:r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Alternate Function Mode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>
            <a:spLocks noGrp="1"/>
          </p:cNvSpPr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LED BLINKY on STM32CUBE IDE</a:t>
            </a:r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subTitle" idx="1"/>
          </p:nvPr>
        </p:nvSpPr>
        <p:spPr>
          <a:xfrm>
            <a:off x="404975" y="4836160"/>
            <a:ext cx="830842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4006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[STM32CubeIDE] https://www.youtube.com/watch?v=ZuBKAAFxjgk</a:t>
            </a:r>
            <a:endParaRPr/>
          </a:p>
          <a:p>
            <a:pPr marL="64006" lvl="0" indent="0" algn="l" rtl="0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[Proteus Simulation]</a:t>
            </a:r>
            <a:endParaRPr/>
          </a:p>
          <a:p>
            <a:pPr marL="64006" lvl="0" indent="0" algn="l" rtl="0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https://www.youtube.com/watch?v=b5K0uxedVDw</a:t>
            </a:r>
            <a:endParaRPr/>
          </a:p>
          <a:p>
            <a:pPr marL="64006" lvl="0" indent="0" algn="l" rtl="0">
              <a:spcBef>
                <a:spcPts val="3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c31944463_3_0"/>
          <p:cNvSpPr txBox="1">
            <a:spLocks noGrp="1"/>
          </p:cNvSpPr>
          <p:nvPr>
            <p:ph type="ctrTitle"/>
          </p:nvPr>
        </p:nvSpPr>
        <p:spPr>
          <a:xfrm>
            <a:off x="233797" y="971550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Software Timer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Microsoft Office PowerPoint</Application>
  <PresentationFormat>On-screen Show (4:3)</PresentationFormat>
  <Paragraphs>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Impact</vt:lpstr>
      <vt:lpstr>Century Gothic</vt:lpstr>
      <vt:lpstr>Noto Sans Symbols</vt:lpstr>
      <vt:lpstr>Tahoma</vt:lpstr>
      <vt:lpstr>Calibri</vt:lpstr>
      <vt:lpstr>Arial</vt:lpstr>
      <vt:lpstr>Georgia</vt:lpstr>
      <vt:lpstr>Training presentation</vt:lpstr>
      <vt:lpstr>Microcontroller GPIO</vt:lpstr>
      <vt:lpstr>Content</vt:lpstr>
      <vt:lpstr>GPIO Output</vt:lpstr>
      <vt:lpstr>GPIO Input</vt:lpstr>
      <vt:lpstr>GPIO Input Modes</vt:lpstr>
      <vt:lpstr>High-impedance</vt:lpstr>
      <vt:lpstr>Pull Up</vt:lpstr>
      <vt:lpstr>Pull Down</vt:lpstr>
      <vt:lpstr>GPIO Output Modes</vt:lpstr>
      <vt:lpstr>Push-pull</vt:lpstr>
      <vt:lpstr>Open-Drain</vt:lpstr>
      <vt:lpstr>Analog Mode</vt:lpstr>
      <vt:lpstr>Alternate Function Mode</vt:lpstr>
      <vt:lpstr>LED BLINKY on STM32CUBE IDE</vt:lpstr>
      <vt:lpstr>Software Timer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user01</cp:lastModifiedBy>
  <cp:revision>1</cp:revision>
  <dcterms:created xsi:type="dcterms:W3CDTF">2014-07-29T03:47:45Z</dcterms:created>
  <dcterms:modified xsi:type="dcterms:W3CDTF">2025-09-20T03:45:53Z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